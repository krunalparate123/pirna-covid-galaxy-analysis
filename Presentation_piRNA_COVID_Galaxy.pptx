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Times New Roman" panose="02020603050405020304" pitchFamily="18" charset="0"/>
      <p:regular r:id="rId28"/>
    </p:embeddedFont>
    <p:embeddedFont>
      <p:font typeface="PT Sans Bold" panose="020B0604020202020204" charset="0"/>
      <p:regular r:id="rId29"/>
    </p:embeddedFont>
    <p:embeddedFont>
      <p:font typeface="Canva Sans" panose="020B0604020202020204" charset="0"/>
      <p:regular r:id="rId30"/>
    </p:embeddedFont>
    <p:embeddedFont>
      <p:font typeface="PT San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5341"/>
            <a:chOff x="0" y="0"/>
            <a:chExt cx="24384000" cy="10204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64" cy="1020455"/>
            </a:xfrm>
            <a:custGeom>
              <a:avLst/>
              <a:gdLst/>
              <a:ahLst/>
              <a:cxnLst/>
              <a:rect l="l" t="t" r="r" b="b"/>
              <a:pathLst>
                <a:path w="24384064" h="1020455">
                  <a:moveTo>
                    <a:pt x="0" y="0"/>
                  </a:moveTo>
                  <a:lnTo>
                    <a:pt x="24384064" y="0"/>
                  </a:lnTo>
                  <a:lnTo>
                    <a:pt x="24384064" y="1020455"/>
                  </a:lnTo>
                  <a:lnTo>
                    <a:pt x="0" y="1020455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9" name="Group 2"/>
          <p:cNvGrpSpPr/>
          <p:nvPr/>
        </p:nvGrpSpPr>
        <p:grpSpPr>
          <a:xfrm>
            <a:off x="48" y="9552832"/>
            <a:ext cx="18288000" cy="765341"/>
            <a:chOff x="0" y="0"/>
            <a:chExt cx="24384000" cy="102045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24384064" cy="1020455"/>
            </a:xfrm>
            <a:custGeom>
              <a:avLst/>
              <a:gdLst/>
              <a:ahLst/>
              <a:cxnLst/>
              <a:rect l="l" t="t" r="r" b="b"/>
              <a:pathLst>
                <a:path w="24384064" h="1020455">
                  <a:moveTo>
                    <a:pt x="0" y="0"/>
                  </a:moveTo>
                  <a:lnTo>
                    <a:pt x="24384064" y="0"/>
                  </a:lnTo>
                  <a:lnTo>
                    <a:pt x="24384064" y="1020455"/>
                  </a:lnTo>
                  <a:lnTo>
                    <a:pt x="0" y="1020455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11" name="Group 2"/>
          <p:cNvGrpSpPr/>
          <p:nvPr/>
        </p:nvGrpSpPr>
        <p:grpSpPr>
          <a:xfrm rot="5400000">
            <a:off x="-4776419" y="4776416"/>
            <a:ext cx="10318176" cy="765341"/>
            <a:chOff x="0" y="0"/>
            <a:chExt cx="24384000" cy="1020455"/>
          </a:xfrm>
        </p:grpSpPr>
        <p:sp>
          <p:nvSpPr>
            <p:cNvPr id="12" name="Freeform 3"/>
            <p:cNvSpPr/>
            <p:nvPr/>
          </p:nvSpPr>
          <p:spPr>
            <a:xfrm>
              <a:off x="0" y="0"/>
              <a:ext cx="24384064" cy="1020455"/>
            </a:xfrm>
            <a:custGeom>
              <a:avLst/>
              <a:gdLst/>
              <a:ahLst/>
              <a:cxnLst/>
              <a:rect l="l" t="t" r="r" b="b"/>
              <a:pathLst>
                <a:path w="24384064" h="1020455">
                  <a:moveTo>
                    <a:pt x="0" y="0"/>
                  </a:moveTo>
                  <a:lnTo>
                    <a:pt x="24384064" y="0"/>
                  </a:lnTo>
                  <a:lnTo>
                    <a:pt x="24384064" y="1020455"/>
                  </a:lnTo>
                  <a:lnTo>
                    <a:pt x="0" y="1020455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13" name="Group 2"/>
          <p:cNvGrpSpPr/>
          <p:nvPr/>
        </p:nvGrpSpPr>
        <p:grpSpPr>
          <a:xfrm rot="5400000">
            <a:off x="12763562" y="4793736"/>
            <a:ext cx="10283534" cy="765341"/>
            <a:chOff x="0" y="0"/>
            <a:chExt cx="24384000" cy="1020455"/>
          </a:xfrm>
        </p:grpSpPr>
        <p:sp>
          <p:nvSpPr>
            <p:cNvPr id="14" name="Freeform 3"/>
            <p:cNvSpPr/>
            <p:nvPr/>
          </p:nvSpPr>
          <p:spPr>
            <a:xfrm>
              <a:off x="0" y="0"/>
              <a:ext cx="24384064" cy="1020455"/>
            </a:xfrm>
            <a:custGeom>
              <a:avLst/>
              <a:gdLst/>
              <a:ahLst/>
              <a:cxnLst/>
              <a:rect l="l" t="t" r="r" b="b"/>
              <a:pathLst>
                <a:path w="24384064" h="1020455">
                  <a:moveTo>
                    <a:pt x="0" y="0"/>
                  </a:moveTo>
                  <a:lnTo>
                    <a:pt x="24384064" y="0"/>
                  </a:lnTo>
                  <a:lnTo>
                    <a:pt x="24384064" y="1020455"/>
                  </a:lnTo>
                  <a:lnTo>
                    <a:pt x="0" y="1020455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15" name="Group 4"/>
          <p:cNvGrpSpPr/>
          <p:nvPr/>
        </p:nvGrpSpPr>
        <p:grpSpPr>
          <a:xfrm rot="16200000">
            <a:off x="7113784" y="-2763920"/>
            <a:ext cx="4419601" cy="15163801"/>
            <a:chOff x="0" y="0"/>
            <a:chExt cx="768096" cy="10661904"/>
          </a:xfrm>
        </p:grpSpPr>
        <p:sp>
          <p:nvSpPr>
            <p:cNvPr id="16" name="Freeform 5"/>
            <p:cNvSpPr/>
            <p:nvPr/>
          </p:nvSpPr>
          <p:spPr>
            <a:xfrm>
              <a:off x="0" y="0"/>
              <a:ext cx="768096" cy="10661904"/>
            </a:xfrm>
            <a:custGeom>
              <a:avLst/>
              <a:gdLst/>
              <a:ahLst/>
              <a:cxnLst/>
              <a:rect l="l" t="t" r="r" b="b"/>
              <a:pathLst>
                <a:path w="768096" h="10661904">
                  <a:moveTo>
                    <a:pt x="0" y="0"/>
                  </a:moveTo>
                  <a:lnTo>
                    <a:pt x="768096" y="0"/>
                  </a:lnTo>
                  <a:lnTo>
                    <a:pt x="768096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089308" y="2019300"/>
            <a:ext cx="10874771" cy="580138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6479"/>
              </a:lnSpc>
            </a:pPr>
            <a:r>
              <a:rPr lang="en-US" sz="5999" b="1" spc="-110" dirty="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Computational Analysis of </a:t>
            </a:r>
            <a:r>
              <a:rPr lang="en-US" sz="5999" b="1" spc="-110" dirty="0" err="1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piRNA</a:t>
            </a:r>
            <a:r>
              <a:rPr lang="en-US" sz="5999" b="1" spc="-110" dirty="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Sequence Present in </a:t>
            </a:r>
            <a:r>
              <a:rPr lang="en-US" sz="5999" b="1" spc="-110" dirty="0" err="1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Covid</a:t>
            </a:r>
            <a:r>
              <a:rPr lang="en-US" sz="5999" b="1" spc="-110" dirty="0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 Sample using Galaxy Software</a:t>
            </a:r>
          </a:p>
          <a:p>
            <a:pPr algn="ctr">
              <a:lnSpc>
                <a:spcPts val="4319"/>
              </a:lnSpc>
            </a:pPr>
            <a:endParaRPr lang="en-US" sz="5999" b="1" spc="-110" dirty="0">
              <a:solidFill>
                <a:srgbClr val="000000"/>
              </a:solidFill>
              <a:latin typeface="PT Sans Bold"/>
              <a:ea typeface="PT Sans Bold"/>
              <a:cs typeface="PT Sans Bold"/>
              <a:sym typeface="PT Sans Bold"/>
            </a:endParaRPr>
          </a:p>
          <a:p>
            <a:pPr algn="ctr">
              <a:lnSpc>
                <a:spcPts val="2484"/>
              </a:lnSpc>
            </a:pPr>
            <a:endParaRPr lang="en-US" sz="5999" b="1" spc="-110" dirty="0">
              <a:solidFill>
                <a:srgbClr val="000000"/>
              </a:solidFill>
              <a:latin typeface="PT Sans Bold"/>
              <a:ea typeface="PT Sans Bold"/>
              <a:cs typeface="PT Sans Bold"/>
              <a:sym typeface="PT Sans Bold"/>
            </a:endParaRPr>
          </a:p>
          <a:p>
            <a:pPr algn="ctr">
              <a:lnSpc>
                <a:spcPts val="3780"/>
              </a:lnSpc>
            </a:pPr>
            <a:endParaRPr lang="en-US" sz="5999" b="1" spc="-110" dirty="0">
              <a:solidFill>
                <a:srgbClr val="000000"/>
              </a:solidFill>
              <a:latin typeface="PT Sans Bold"/>
              <a:ea typeface="PT Sans Bold"/>
              <a:cs typeface="PT Sans Bold"/>
              <a:sym typeface="PT Sans Bold"/>
            </a:endParaRPr>
          </a:p>
          <a:p>
            <a:pPr algn="ctr">
              <a:lnSpc>
                <a:spcPts val="4319"/>
              </a:lnSpc>
            </a:pPr>
            <a:endParaRPr lang="en-US" sz="5999" b="1" spc="-110" dirty="0">
              <a:solidFill>
                <a:srgbClr val="000000"/>
              </a:solidFill>
              <a:latin typeface="PT Sans Bold"/>
              <a:ea typeface="PT Sans Bold"/>
              <a:cs typeface="PT Sans Bold"/>
              <a:sym typeface="PT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38428"/>
            <a:ext cx="5165385" cy="7996428"/>
            <a:chOff x="0" y="0"/>
            <a:chExt cx="6887180" cy="10661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87210" cy="10661904"/>
            </a:xfrm>
            <a:custGeom>
              <a:avLst/>
              <a:gdLst/>
              <a:ahLst/>
              <a:cxnLst/>
              <a:rect l="l" t="t" r="r" b="b"/>
              <a:pathLst>
                <a:path w="6887210" h="10661904">
                  <a:moveTo>
                    <a:pt x="0" y="0"/>
                  </a:moveTo>
                  <a:lnTo>
                    <a:pt x="6887210" y="0"/>
                  </a:lnTo>
                  <a:lnTo>
                    <a:pt x="6887210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726026" y="1145286"/>
            <a:ext cx="576072" cy="7996428"/>
            <a:chOff x="0" y="0"/>
            <a:chExt cx="768096" cy="106619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096" cy="10661904"/>
            </a:xfrm>
            <a:custGeom>
              <a:avLst/>
              <a:gdLst/>
              <a:ahLst/>
              <a:cxnLst/>
              <a:rect l="l" t="t" r="r" b="b"/>
              <a:pathLst>
                <a:path w="768096" h="10661904">
                  <a:moveTo>
                    <a:pt x="0" y="0"/>
                  </a:moveTo>
                  <a:lnTo>
                    <a:pt x="768096" y="0"/>
                  </a:lnTo>
                  <a:lnTo>
                    <a:pt x="768096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72082" y="1871577"/>
            <a:ext cx="4421223" cy="6530130"/>
            <a:chOff x="0" y="0"/>
            <a:chExt cx="5894964" cy="8706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94964" cy="8706840"/>
            </a:xfrm>
            <a:custGeom>
              <a:avLst/>
              <a:gdLst/>
              <a:ahLst/>
              <a:cxnLst/>
              <a:rect l="l" t="t" r="r" b="b"/>
              <a:pathLst>
                <a:path w="5894964" h="8706840">
                  <a:moveTo>
                    <a:pt x="0" y="0"/>
                  </a:moveTo>
                  <a:lnTo>
                    <a:pt x="5894964" y="0"/>
                  </a:lnTo>
                  <a:lnTo>
                    <a:pt x="5894964" y="8706840"/>
                  </a:lnTo>
                  <a:lnTo>
                    <a:pt x="0" y="8706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76200"/>
              <a:ext cx="5894964" cy="8630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79"/>
                </a:lnSpc>
              </a:pPr>
              <a:r>
                <a:rPr lang="en-US" sz="5999" spc="-108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CONTENT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72151" y="1542197"/>
            <a:ext cx="10972800" cy="7592659"/>
            <a:chOff x="0" y="0"/>
            <a:chExt cx="14630400" cy="10123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0400" cy="10123546"/>
            </a:xfrm>
            <a:custGeom>
              <a:avLst/>
              <a:gdLst/>
              <a:ahLst/>
              <a:cxnLst/>
              <a:rect l="l" t="t" r="r" b="b"/>
              <a:pathLst>
                <a:path w="14630400" h="10123546">
                  <a:moveTo>
                    <a:pt x="0" y="0"/>
                  </a:moveTo>
                  <a:lnTo>
                    <a:pt x="14630400" y="0"/>
                  </a:lnTo>
                  <a:lnTo>
                    <a:pt x="14630400" y="10123546"/>
                  </a:lnTo>
                  <a:lnTo>
                    <a:pt x="0" y="101235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09575"/>
              <a:ext cx="14630400" cy="10533120"/>
            </a:xfrm>
            <a:prstGeom prst="rect">
              <a:avLst/>
            </a:prstGeom>
          </p:spPr>
          <p:txBody>
            <a:bodyPr lIns="152400" tIns="152400" rIns="152400" bIns="152400" rtlCol="0" anchor="ctr"/>
            <a:lstStyle/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Introduction</a:t>
              </a:r>
            </a:p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Covid Sample Dataset </a:t>
              </a:r>
            </a:p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Methodology</a:t>
              </a:r>
            </a:p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Result and Discussions</a:t>
              </a:r>
            </a:p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Future scope</a:t>
              </a:r>
            </a:p>
            <a:p>
              <a:pPr marL="651510" lvl="1" indent="-325755" algn="l">
                <a:lnSpc>
                  <a:spcPts val="8568"/>
                </a:lnSpc>
                <a:buFont typeface="Arial"/>
                <a:buChar char="•"/>
              </a:pPr>
              <a:r>
                <a:rPr lang="en-US" sz="3600" spc="-5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References</a:t>
              </a:r>
            </a:p>
            <a:p>
              <a:pPr marL="651510" lvl="1" indent="-325755" algn="l">
                <a:lnSpc>
                  <a:spcPts val="8568"/>
                </a:lnSpc>
              </a:pPr>
              <a:endParaRPr lang="en-US" sz="3600" spc="-5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6375" y="1365652"/>
            <a:ext cx="14475250" cy="7555696"/>
            <a:chOff x="0" y="0"/>
            <a:chExt cx="17481176" cy="91247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81169" cy="9124574"/>
            </a:xfrm>
            <a:custGeom>
              <a:avLst/>
              <a:gdLst/>
              <a:ahLst/>
              <a:cxnLst/>
              <a:rect l="l" t="t" r="r" b="b"/>
              <a:pathLst>
                <a:path w="17481169" h="9124574">
                  <a:moveTo>
                    <a:pt x="0" y="0"/>
                  </a:moveTo>
                  <a:lnTo>
                    <a:pt x="17481169" y="0"/>
                  </a:lnTo>
                  <a:lnTo>
                    <a:pt x="17481169" y="9124574"/>
                  </a:lnTo>
                  <a:lnTo>
                    <a:pt x="0" y="912457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614353" y="9827807"/>
            <a:ext cx="21237654" cy="459193"/>
            <a:chOff x="0" y="0"/>
            <a:chExt cx="19901648" cy="430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01663" cy="430276"/>
            </a:xfrm>
            <a:custGeom>
              <a:avLst/>
              <a:gdLst/>
              <a:ahLst/>
              <a:cxnLst/>
              <a:rect l="l" t="t" r="r" b="b"/>
              <a:pathLst>
                <a:path w="19901663" h="430276">
                  <a:moveTo>
                    <a:pt x="0" y="0"/>
                  </a:moveTo>
                  <a:lnTo>
                    <a:pt x="19901663" y="0"/>
                  </a:lnTo>
                  <a:lnTo>
                    <a:pt x="19901663" y="430276"/>
                  </a:lnTo>
                  <a:lnTo>
                    <a:pt x="0" y="430276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686603" y="4383092"/>
            <a:ext cx="7572197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9122" y="876516"/>
            <a:ext cx="14664075" cy="1546413"/>
            <a:chOff x="0" y="0"/>
            <a:chExt cx="19552100" cy="20618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2092" cy="2061853"/>
            </a:xfrm>
            <a:custGeom>
              <a:avLst/>
              <a:gdLst/>
              <a:ahLst/>
              <a:cxnLst/>
              <a:rect l="l" t="t" r="r" b="b"/>
              <a:pathLst>
                <a:path w="19552092" h="2061853">
                  <a:moveTo>
                    <a:pt x="0" y="0"/>
                  </a:moveTo>
                  <a:lnTo>
                    <a:pt x="19552092" y="0"/>
                  </a:lnTo>
                  <a:lnTo>
                    <a:pt x="19552092" y="2061853"/>
                  </a:lnTo>
                  <a:lnTo>
                    <a:pt x="0" y="2061853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80882" y="9964270"/>
            <a:ext cx="14926236" cy="322729"/>
            <a:chOff x="0" y="0"/>
            <a:chExt cx="19901648" cy="430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01663" cy="430276"/>
            </a:xfrm>
            <a:custGeom>
              <a:avLst/>
              <a:gdLst/>
              <a:ahLst/>
              <a:cxnLst/>
              <a:rect l="l" t="t" r="r" b="b"/>
              <a:pathLst>
                <a:path w="19901663" h="430276">
                  <a:moveTo>
                    <a:pt x="0" y="0"/>
                  </a:moveTo>
                  <a:lnTo>
                    <a:pt x="19901663" y="0"/>
                  </a:lnTo>
                  <a:lnTo>
                    <a:pt x="19901663" y="430276"/>
                  </a:lnTo>
                  <a:lnTo>
                    <a:pt x="0" y="430276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4173" y="3066576"/>
            <a:ext cx="16385127" cy="7249933"/>
            <a:chOff x="0" y="0"/>
            <a:chExt cx="19115410" cy="8458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15410" cy="8458002"/>
            </a:xfrm>
            <a:custGeom>
              <a:avLst/>
              <a:gdLst/>
              <a:ahLst/>
              <a:cxnLst/>
              <a:rect l="l" t="t" r="r" b="b"/>
              <a:pathLst>
                <a:path w="19115410" h="8458002">
                  <a:moveTo>
                    <a:pt x="0" y="0"/>
                  </a:moveTo>
                  <a:lnTo>
                    <a:pt x="19115410" y="0"/>
                  </a:lnTo>
                  <a:lnTo>
                    <a:pt x="19115410" y="8458002"/>
                  </a:lnTo>
                  <a:lnTo>
                    <a:pt x="0" y="84580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71450"/>
              <a:ext cx="19115410" cy="86294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506730" lvl="1" indent="-253365" algn="l">
                <a:lnSpc>
                  <a:spcPts val="5179"/>
                </a:lnSpc>
                <a:buAutoNum type="arabicPeriod"/>
              </a:pPr>
              <a:r>
                <a:rPr lang="en-US" sz="2799" spc="-3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 stands for Piwi-interacting RNA.</a:t>
              </a:r>
            </a:p>
            <a:p>
              <a:pPr marL="506730" lvl="1" indent="-253365" algn="l">
                <a:lnSpc>
                  <a:spcPts val="5179"/>
                </a:lnSpc>
                <a:buAutoNum type="arabicPeriod"/>
              </a:pPr>
              <a:r>
                <a:rPr lang="en-US" sz="2799" spc="-2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It is a type of small non-coding RNA, typically 24–31 nucleotides long.</a:t>
              </a:r>
            </a:p>
            <a:p>
              <a:pPr algn="l">
                <a:lnSpc>
                  <a:spcPts val="5179"/>
                </a:lnSpc>
              </a:pPr>
              <a:r>
                <a:rPr lang="en-US" sz="2799" b="1" spc="-2">
                  <a:solidFill>
                    <a:srgbClr val="000000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ROLES:</a:t>
              </a:r>
            </a:p>
            <a:p>
              <a:pPr marL="604519" lvl="1" indent="-302260" algn="l">
                <a:lnSpc>
                  <a:spcPts val="5179"/>
                </a:lnSpc>
                <a:buFont typeface="Arial"/>
                <a:buChar char="•"/>
              </a:pPr>
              <a:r>
                <a:rPr lang="en-US" sz="2799" spc="-2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piRNAs maintain genomic integrity by guiding PIWI proteins to silence harmful genetic elements through transcriptional and post-transcriptional gene silencing.</a:t>
              </a:r>
            </a:p>
            <a:p>
              <a:pPr marL="604519" lvl="1" indent="-302260" algn="l">
                <a:lnSpc>
                  <a:spcPts val="5179"/>
                </a:lnSpc>
                <a:buFont typeface="Arial"/>
                <a:buChar char="•"/>
              </a:pPr>
              <a:r>
                <a:rPr lang="en-US" sz="2799" spc="-2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Emerging evidence shows piRNAs are also found in somatic (non-reproductive) cells.</a:t>
              </a:r>
            </a:p>
            <a:p>
              <a:pPr marL="604519" lvl="1" indent="-302260" algn="l">
                <a:lnSpc>
                  <a:spcPts val="5179"/>
                </a:lnSpc>
                <a:buFont typeface="Arial"/>
                <a:buChar char="•"/>
              </a:pPr>
              <a:r>
                <a:rPr lang="en-US" sz="2799" spc="-2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Gene Regulation – Control gene activity.</a:t>
              </a:r>
            </a:p>
            <a:p>
              <a:pPr marL="604519" lvl="1" indent="-302260" algn="l">
                <a:lnSpc>
                  <a:spcPts val="5179"/>
                </a:lnSpc>
                <a:buFont typeface="Arial"/>
                <a:buChar char="•"/>
              </a:pPr>
              <a:r>
                <a:rPr lang="en-US" sz="2799" spc="-2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Epigenetic Control – Modify DNA for stability.</a:t>
              </a:r>
            </a:p>
            <a:p>
              <a:pPr algn="l">
                <a:lnSpc>
                  <a:spcPts val="3359"/>
                </a:lnSpc>
              </a:pPr>
              <a:endParaRPr lang="en-US" sz="2799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algn="l">
                <a:lnSpc>
                  <a:spcPts val="3359"/>
                </a:lnSpc>
              </a:pPr>
              <a:endParaRPr lang="en-US" sz="2799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158550"/>
            <a:ext cx="712665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What are piRNAs?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3600"/>
            <a:ext cx="14664075" cy="1546413"/>
            <a:chOff x="0" y="0"/>
            <a:chExt cx="19552100" cy="20618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2092" cy="2061853"/>
            </a:xfrm>
            <a:custGeom>
              <a:avLst/>
              <a:gdLst/>
              <a:ahLst/>
              <a:cxnLst/>
              <a:rect l="l" t="t" r="r" b="b"/>
              <a:pathLst>
                <a:path w="19552092" h="2061853">
                  <a:moveTo>
                    <a:pt x="0" y="0"/>
                  </a:moveTo>
                  <a:lnTo>
                    <a:pt x="19552092" y="0"/>
                  </a:lnTo>
                  <a:lnTo>
                    <a:pt x="19552092" y="2061853"/>
                  </a:lnTo>
                  <a:lnTo>
                    <a:pt x="0" y="2061853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51882" y="1085634"/>
            <a:ext cx="1141711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Relevance to COVID-19 Infection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08002" y="3154588"/>
            <a:ext cx="14990696" cy="5233645"/>
            <a:chOff x="0" y="0"/>
            <a:chExt cx="19987594" cy="69781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87594" cy="6978193"/>
            </a:xfrm>
            <a:custGeom>
              <a:avLst/>
              <a:gdLst/>
              <a:ahLst/>
              <a:cxnLst/>
              <a:rect l="l" t="t" r="r" b="b"/>
              <a:pathLst>
                <a:path w="19987594" h="6978193">
                  <a:moveTo>
                    <a:pt x="0" y="0"/>
                  </a:moveTo>
                  <a:lnTo>
                    <a:pt x="19987594" y="0"/>
                  </a:lnTo>
                  <a:lnTo>
                    <a:pt x="19987594" y="6978193"/>
                  </a:lnTo>
                  <a:lnTo>
                    <a:pt x="0" y="697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19075"/>
              <a:ext cx="19987594" cy="71972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88632" lvl="1" indent="-244316" algn="l">
                <a:lnSpc>
                  <a:spcPts val="5508"/>
                </a:lnSpc>
                <a:buAutoNum type="arabicPeriod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During SARS-CoV-2 infection, the host immune system undergoes complex changes.</a:t>
              </a:r>
            </a:p>
            <a:p>
              <a:pPr marL="488632" lvl="1" indent="-244316" algn="l">
                <a:lnSpc>
                  <a:spcPts val="5508"/>
                </a:lnSpc>
                <a:buAutoNum type="arabicPeriod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Recent studies propose that </a:t>
              </a:r>
              <a:r>
                <a:rPr lang="en-US" sz="2700" spc="-2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expression patterns may change in infected individuals.</a:t>
              </a:r>
            </a:p>
            <a:p>
              <a:pPr marL="488632" lvl="1" indent="-244316" algn="l">
                <a:lnSpc>
                  <a:spcPts val="5508"/>
                </a:lnSpc>
                <a:buAutoNum type="arabicPeriod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These changes could:</a:t>
              </a:r>
            </a:p>
            <a:p>
              <a:pPr marL="582930" lvl="1" indent="-291465" algn="l">
                <a:lnSpc>
                  <a:spcPts val="5508"/>
                </a:lnSpc>
                <a:buFont typeface="Arial"/>
                <a:buChar char="•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Reflect the body’s response to viral stress</a:t>
              </a:r>
            </a:p>
            <a:p>
              <a:pPr marL="582930" lvl="1" indent="-291465" algn="l">
                <a:lnSpc>
                  <a:spcPts val="5508"/>
                </a:lnSpc>
                <a:buFont typeface="Arial"/>
                <a:buChar char="•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Serve as potential biomarkers for disease severity</a:t>
              </a:r>
            </a:p>
            <a:p>
              <a:pPr marL="582930" lvl="1" indent="-291465" algn="l">
                <a:lnSpc>
                  <a:spcPts val="5508"/>
                </a:lnSpc>
                <a:buFont typeface="Arial"/>
                <a:buChar char="•"/>
              </a:pPr>
              <a:r>
                <a:rPr lang="en-US" sz="2700" spc="-2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Help understand virus-host interactions</a:t>
              </a:r>
            </a:p>
            <a:p>
              <a:pPr marL="244316" lvl="1" algn="l">
                <a:lnSpc>
                  <a:spcPts val="5508"/>
                </a:lnSpc>
              </a:pPr>
              <a:r>
                <a:rPr lang="en-US" sz="2700" spc="-3" dirty="0" smtClean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4.Investigating </a:t>
              </a:r>
              <a:r>
                <a:rPr lang="en-US" sz="2700" spc="-3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piRNAs</a:t>
              </a:r>
              <a:r>
                <a:rPr lang="en-US" sz="2700" spc="-3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in COVID-19 patients can reveal new targets for diagnostics or therapy.</a:t>
              </a:r>
            </a:p>
            <a:p>
              <a:pPr algn="l">
                <a:lnSpc>
                  <a:spcPts val="3240"/>
                </a:lnSpc>
              </a:pPr>
              <a:endParaRPr lang="en-US" sz="2700" spc="-3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03600"/>
            <a:ext cx="14664075" cy="1546413"/>
            <a:chOff x="0" y="0"/>
            <a:chExt cx="19552100" cy="20618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2092" cy="2061853"/>
            </a:xfrm>
            <a:custGeom>
              <a:avLst/>
              <a:gdLst/>
              <a:ahLst/>
              <a:cxnLst/>
              <a:rect l="l" t="t" r="r" b="b"/>
              <a:pathLst>
                <a:path w="19552092" h="2061853">
                  <a:moveTo>
                    <a:pt x="0" y="0"/>
                  </a:moveTo>
                  <a:lnTo>
                    <a:pt x="19552092" y="0"/>
                  </a:lnTo>
                  <a:lnTo>
                    <a:pt x="19552092" y="2061853"/>
                  </a:lnTo>
                  <a:lnTo>
                    <a:pt x="0" y="2061853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51882" y="1085634"/>
            <a:ext cx="1141711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Objective of the Study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6055" y="3401302"/>
            <a:ext cx="13635375" cy="399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604" lvl="1" indent="-331302" algn="l">
              <a:lnSpc>
                <a:spcPts val="5370"/>
              </a:lnSpc>
              <a:buAutoNum type="arabicPeriod"/>
            </a:pPr>
            <a:r>
              <a:rPr lang="en-US" sz="306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To perform a computational analysis of piRNA sequences present in COVID-19 patient samples.</a:t>
            </a:r>
          </a:p>
          <a:p>
            <a:pPr marL="662604" lvl="1" indent="-331302" algn="l">
              <a:lnSpc>
                <a:spcPts val="5370"/>
              </a:lnSpc>
              <a:buAutoNum type="arabicPeriod"/>
            </a:pPr>
            <a:r>
              <a:rPr lang="en-US" sz="3069" spc="-4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Identify potential changes in piRNA expression between:</a:t>
            </a:r>
          </a:p>
          <a:p>
            <a:pPr marL="1325207" lvl="2" indent="-441736" algn="l">
              <a:lnSpc>
                <a:spcPts val="5370"/>
              </a:lnSpc>
              <a:buAutoNum type="alphaLcPeriod"/>
            </a:pPr>
            <a:r>
              <a:rPr lang="en-US" sz="3069" spc="-4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Healthy individuals</a:t>
            </a:r>
          </a:p>
          <a:p>
            <a:pPr marL="1325207" lvl="2" indent="-441736" algn="l">
              <a:lnSpc>
                <a:spcPts val="5370"/>
              </a:lnSpc>
              <a:buAutoNum type="alphaLcPeriod"/>
            </a:pPr>
            <a:r>
              <a:rPr lang="en-US" sz="3069" spc="-4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Symptomatic (ICU) patients</a:t>
            </a:r>
          </a:p>
          <a:p>
            <a:pPr marL="1325207" lvl="2" indent="-441736" algn="l">
              <a:lnSpc>
                <a:spcPts val="5370"/>
              </a:lnSpc>
              <a:buAutoNum type="alphaLcPeriod"/>
            </a:pPr>
            <a:r>
              <a:rPr lang="en-US" sz="3069" spc="-4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Asymptomatic (non-ICU) patients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6316"/>
            <a:ext cx="14664075" cy="1546413"/>
            <a:chOff x="0" y="0"/>
            <a:chExt cx="19552100" cy="20618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2092" cy="2061853"/>
            </a:xfrm>
            <a:custGeom>
              <a:avLst/>
              <a:gdLst/>
              <a:ahLst/>
              <a:cxnLst/>
              <a:rect l="l" t="t" r="r" b="b"/>
              <a:pathLst>
                <a:path w="19552092" h="2061853">
                  <a:moveTo>
                    <a:pt x="0" y="0"/>
                  </a:moveTo>
                  <a:lnTo>
                    <a:pt x="19552092" y="0"/>
                  </a:lnTo>
                  <a:lnTo>
                    <a:pt x="19552092" y="2061853"/>
                  </a:lnTo>
                  <a:lnTo>
                    <a:pt x="0" y="2061853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472628" y="4017407"/>
            <a:ext cx="12104692" cy="5477373"/>
          </a:xfrm>
          <a:custGeom>
            <a:avLst/>
            <a:gdLst/>
            <a:ahLst/>
            <a:cxnLst/>
            <a:rect l="l" t="t" r="r" b="b"/>
            <a:pathLst>
              <a:path w="12104692" h="5477373">
                <a:moveTo>
                  <a:pt x="0" y="0"/>
                </a:moveTo>
                <a:lnTo>
                  <a:pt x="12104692" y="0"/>
                </a:lnTo>
                <a:lnTo>
                  <a:pt x="12104692" y="5477373"/>
                </a:lnTo>
                <a:lnTo>
                  <a:pt x="0" y="547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708350"/>
            <a:ext cx="1141711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GALAXY Software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109" y="2354341"/>
            <a:ext cx="16569731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Galaxy is an open-source, web-based platform that enables users to perform complex bioinformatics analyses through an easy-to-use graphical interface. It supports reproducible research by allowing workflow creation, tool integration, and data sharing without programming skills.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49479"/>
            <a:ext cx="18288000" cy="8588041"/>
            <a:chOff x="0" y="0"/>
            <a:chExt cx="22704234" cy="10661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04264" cy="10661904"/>
            </a:xfrm>
            <a:custGeom>
              <a:avLst/>
              <a:gdLst/>
              <a:ahLst/>
              <a:cxnLst/>
              <a:rect l="l" t="t" r="r" b="b"/>
              <a:pathLst>
                <a:path w="22704264" h="10661904">
                  <a:moveTo>
                    <a:pt x="0" y="0"/>
                  </a:moveTo>
                  <a:lnTo>
                    <a:pt x="22704264" y="0"/>
                  </a:lnTo>
                  <a:lnTo>
                    <a:pt x="22704264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841611" y="740639"/>
            <a:ext cx="7432883" cy="1320544"/>
            <a:chOff x="0" y="0"/>
            <a:chExt cx="9910510" cy="1760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10511" cy="1760725"/>
            </a:xfrm>
            <a:custGeom>
              <a:avLst/>
              <a:gdLst/>
              <a:ahLst/>
              <a:cxnLst/>
              <a:rect l="l" t="t" r="r" b="b"/>
              <a:pathLst>
                <a:path w="9910511" h="1760725">
                  <a:moveTo>
                    <a:pt x="0" y="0"/>
                  </a:moveTo>
                  <a:lnTo>
                    <a:pt x="9910511" y="0"/>
                  </a:lnTo>
                  <a:lnTo>
                    <a:pt x="9910511" y="1760725"/>
                  </a:lnTo>
                  <a:lnTo>
                    <a:pt x="0" y="1760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9910510" cy="1703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39"/>
                </a:lnSpc>
              </a:pPr>
              <a:r>
                <a:rPr lang="en-US" sz="5499" spc="-99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DATA COLLECTION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4116034" y="3039517"/>
            <a:ext cx="9466389" cy="6022990"/>
          </a:xfrm>
          <a:custGeom>
            <a:avLst/>
            <a:gdLst/>
            <a:ahLst/>
            <a:cxnLst/>
            <a:rect l="l" t="t" r="r" b="b"/>
            <a:pathLst>
              <a:path w="9466389" h="6022990">
                <a:moveTo>
                  <a:pt x="0" y="0"/>
                </a:moveTo>
                <a:lnTo>
                  <a:pt x="9466389" y="0"/>
                </a:lnTo>
                <a:lnTo>
                  <a:pt x="9466389" y="6022990"/>
                </a:lnTo>
                <a:lnTo>
                  <a:pt x="0" y="602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1124" y="2305875"/>
            <a:ext cx="1702817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data is collected from NCBI [National Centre of Biotechnology Information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" y="1138428"/>
            <a:ext cx="15474983" cy="1806167"/>
            <a:chOff x="0" y="0"/>
            <a:chExt cx="20633311" cy="24082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33341" cy="2408223"/>
            </a:xfrm>
            <a:custGeom>
              <a:avLst/>
              <a:gdLst/>
              <a:ahLst/>
              <a:cxnLst/>
              <a:rect l="l" t="t" r="r" b="b"/>
              <a:pathLst>
                <a:path w="20633341" h="2408223">
                  <a:moveTo>
                    <a:pt x="0" y="0"/>
                  </a:moveTo>
                  <a:lnTo>
                    <a:pt x="20633341" y="0"/>
                  </a:lnTo>
                  <a:lnTo>
                    <a:pt x="20633341" y="2408223"/>
                  </a:lnTo>
                  <a:lnTo>
                    <a:pt x="0" y="2408223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815120" y="9867882"/>
            <a:ext cx="15072537" cy="838236"/>
            <a:chOff x="0" y="0"/>
            <a:chExt cx="20096716" cy="11176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96716" cy="1117648"/>
            </a:xfrm>
            <a:custGeom>
              <a:avLst/>
              <a:gdLst/>
              <a:ahLst/>
              <a:cxnLst/>
              <a:rect l="l" t="t" r="r" b="b"/>
              <a:pathLst>
                <a:path w="20096716" h="1117648">
                  <a:moveTo>
                    <a:pt x="0" y="0"/>
                  </a:moveTo>
                  <a:lnTo>
                    <a:pt x="20096716" y="0"/>
                  </a:lnTo>
                  <a:lnTo>
                    <a:pt x="20096716" y="1117648"/>
                  </a:lnTo>
                  <a:lnTo>
                    <a:pt x="0" y="1117648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39704" y="1395022"/>
            <a:ext cx="5543137" cy="1521875"/>
            <a:chOff x="0" y="0"/>
            <a:chExt cx="7390849" cy="20291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90849" cy="2029167"/>
            </a:xfrm>
            <a:custGeom>
              <a:avLst/>
              <a:gdLst/>
              <a:ahLst/>
              <a:cxnLst/>
              <a:rect l="l" t="t" r="r" b="b"/>
              <a:pathLst>
                <a:path w="7390849" h="2029167">
                  <a:moveTo>
                    <a:pt x="0" y="0"/>
                  </a:moveTo>
                  <a:lnTo>
                    <a:pt x="7390849" y="0"/>
                  </a:lnTo>
                  <a:lnTo>
                    <a:pt x="7390849" y="2029167"/>
                  </a:lnTo>
                  <a:lnTo>
                    <a:pt x="0" y="2029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7390849" cy="1981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spc="-9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METHODOLOGY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73829" y="5396155"/>
            <a:ext cx="943144" cy="471572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0425" y="5012817"/>
            <a:ext cx="1819240" cy="111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Upload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16973" y="5012816"/>
            <a:ext cx="218352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Adapter Trimming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28202" y="5012816"/>
            <a:ext cx="218352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0637" y="5019675"/>
            <a:ext cx="218352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with tRNA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42558" y="5019675"/>
            <a:ext cx="218352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BLAST with piRNA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04479" y="5012816"/>
            <a:ext cx="218352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965914" y="5396155"/>
            <a:ext cx="943144" cy="471572"/>
            <a:chOff x="0" y="0"/>
            <a:chExt cx="812800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737493" y="5396155"/>
            <a:ext cx="943144" cy="471572"/>
            <a:chOff x="0" y="0"/>
            <a:chExt cx="812800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864161" y="5396155"/>
            <a:ext cx="943144" cy="471572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261335" y="5396155"/>
            <a:ext cx="943144" cy="471572"/>
            <a:chOff x="0" y="0"/>
            <a:chExt cx="812800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099" y="0"/>
            <a:ext cx="10342694" cy="1513537"/>
            <a:chOff x="0" y="0"/>
            <a:chExt cx="13790259" cy="2018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90288" cy="2018049"/>
            </a:xfrm>
            <a:custGeom>
              <a:avLst/>
              <a:gdLst/>
              <a:ahLst/>
              <a:cxnLst/>
              <a:rect l="l" t="t" r="r" b="b"/>
              <a:pathLst>
                <a:path w="13790288" h="2018049">
                  <a:moveTo>
                    <a:pt x="0" y="0"/>
                  </a:moveTo>
                  <a:lnTo>
                    <a:pt x="13790288" y="0"/>
                  </a:lnTo>
                  <a:lnTo>
                    <a:pt x="13790288" y="2018049"/>
                  </a:lnTo>
                  <a:lnTo>
                    <a:pt x="0" y="2018049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567928" y="9799212"/>
            <a:ext cx="10030288" cy="798797"/>
            <a:chOff x="0" y="0"/>
            <a:chExt cx="13373718" cy="1065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373719" cy="1065062"/>
            </a:xfrm>
            <a:custGeom>
              <a:avLst/>
              <a:gdLst/>
              <a:ahLst/>
              <a:cxnLst/>
              <a:rect l="l" t="t" r="r" b="b"/>
              <a:pathLst>
                <a:path w="13373719" h="1065062">
                  <a:moveTo>
                    <a:pt x="0" y="0"/>
                  </a:moveTo>
                  <a:lnTo>
                    <a:pt x="13373719" y="0"/>
                  </a:lnTo>
                  <a:lnTo>
                    <a:pt x="13373719" y="1065062"/>
                  </a:lnTo>
                  <a:lnTo>
                    <a:pt x="0" y="1065062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323229"/>
            <a:ext cx="3824654" cy="867078"/>
            <a:chOff x="0" y="0"/>
            <a:chExt cx="5099538" cy="11561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9538" cy="1156104"/>
            </a:xfrm>
            <a:custGeom>
              <a:avLst/>
              <a:gdLst/>
              <a:ahLst/>
              <a:cxnLst/>
              <a:rect l="l" t="t" r="r" b="b"/>
              <a:pathLst>
                <a:path w="5099538" h="1156104">
                  <a:moveTo>
                    <a:pt x="0" y="0"/>
                  </a:moveTo>
                  <a:lnTo>
                    <a:pt x="5099538" y="0"/>
                  </a:lnTo>
                  <a:lnTo>
                    <a:pt x="5099538" y="1156104"/>
                  </a:lnTo>
                  <a:lnTo>
                    <a:pt x="0" y="1156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5099538" cy="1165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19"/>
                </a:lnSpc>
              </a:pPr>
              <a:r>
                <a:rPr lang="en-US" sz="4599" spc="-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627030"/>
            <a:ext cx="4998426" cy="559689"/>
            <a:chOff x="0" y="0"/>
            <a:chExt cx="6664568" cy="746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64568" cy="746252"/>
            </a:xfrm>
            <a:custGeom>
              <a:avLst/>
              <a:gdLst/>
              <a:ahLst/>
              <a:cxnLst/>
              <a:rect l="l" t="t" r="r" b="b"/>
              <a:pathLst>
                <a:path w="6664568" h="746252">
                  <a:moveTo>
                    <a:pt x="0" y="0"/>
                  </a:moveTo>
                  <a:lnTo>
                    <a:pt x="6664568" y="0"/>
                  </a:lnTo>
                  <a:lnTo>
                    <a:pt x="6664568" y="746252"/>
                  </a:lnTo>
                  <a:lnTo>
                    <a:pt x="0" y="746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6664568" cy="7367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Adapter Trimming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41027" y="8816375"/>
            <a:ext cx="2891379" cy="559689"/>
            <a:chOff x="0" y="0"/>
            <a:chExt cx="3855172" cy="7462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55173" cy="746252"/>
            </a:xfrm>
            <a:custGeom>
              <a:avLst/>
              <a:gdLst/>
              <a:ahLst/>
              <a:cxnLst/>
              <a:rect l="l" t="t" r="r" b="b"/>
              <a:pathLst>
                <a:path w="3855173" h="746252">
                  <a:moveTo>
                    <a:pt x="0" y="0"/>
                  </a:moveTo>
                  <a:lnTo>
                    <a:pt x="3855173" y="0"/>
                  </a:lnTo>
                  <a:lnTo>
                    <a:pt x="3855173" y="746252"/>
                  </a:lnTo>
                  <a:lnTo>
                    <a:pt x="0" y="746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3855172" cy="7367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Before Trimming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23926" y="8978456"/>
            <a:ext cx="2891379" cy="559689"/>
            <a:chOff x="0" y="0"/>
            <a:chExt cx="3855172" cy="7462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55173" cy="746252"/>
            </a:xfrm>
            <a:custGeom>
              <a:avLst/>
              <a:gdLst/>
              <a:ahLst/>
              <a:cxnLst/>
              <a:rect l="l" t="t" r="r" b="b"/>
              <a:pathLst>
                <a:path w="3855173" h="746252">
                  <a:moveTo>
                    <a:pt x="0" y="0"/>
                  </a:moveTo>
                  <a:lnTo>
                    <a:pt x="3855173" y="0"/>
                  </a:lnTo>
                  <a:lnTo>
                    <a:pt x="3855173" y="746252"/>
                  </a:lnTo>
                  <a:lnTo>
                    <a:pt x="0" y="7462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855172" cy="7367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99"/>
                </a:lnSpc>
              </a:pPr>
              <a:r>
                <a:rPr lang="en-US" sz="2999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After Trimming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748975" y="3409597"/>
            <a:ext cx="8394546" cy="5166737"/>
          </a:xfrm>
          <a:custGeom>
            <a:avLst/>
            <a:gdLst/>
            <a:ahLst/>
            <a:cxnLst/>
            <a:rect l="l" t="t" r="r" b="b"/>
            <a:pathLst>
              <a:path w="8394546" h="5166737">
                <a:moveTo>
                  <a:pt x="0" y="0"/>
                </a:moveTo>
                <a:lnTo>
                  <a:pt x="8394546" y="0"/>
                </a:lnTo>
                <a:lnTo>
                  <a:pt x="8394546" y="5166737"/>
                </a:lnTo>
                <a:lnTo>
                  <a:pt x="0" y="5166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366383" y="3409597"/>
            <a:ext cx="8206466" cy="5050976"/>
          </a:xfrm>
          <a:custGeom>
            <a:avLst/>
            <a:gdLst/>
            <a:ahLst/>
            <a:cxnLst/>
            <a:rect l="l" t="t" r="r" b="b"/>
            <a:pathLst>
              <a:path w="8206466" h="5050976">
                <a:moveTo>
                  <a:pt x="0" y="0"/>
                </a:moveTo>
                <a:lnTo>
                  <a:pt x="8206466" y="0"/>
                </a:lnTo>
                <a:lnTo>
                  <a:pt x="8206466" y="5050976"/>
                </a:lnTo>
                <a:lnTo>
                  <a:pt x="0" y="5050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5099" y="0"/>
            <a:ext cx="10342694" cy="1190307"/>
            <a:chOff x="0" y="0"/>
            <a:chExt cx="13790259" cy="1587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90288" cy="1587077"/>
            </a:xfrm>
            <a:custGeom>
              <a:avLst/>
              <a:gdLst/>
              <a:ahLst/>
              <a:cxnLst/>
              <a:rect l="l" t="t" r="r" b="b"/>
              <a:pathLst>
                <a:path w="13790288" h="1587077">
                  <a:moveTo>
                    <a:pt x="0" y="0"/>
                  </a:moveTo>
                  <a:lnTo>
                    <a:pt x="13790288" y="0"/>
                  </a:lnTo>
                  <a:lnTo>
                    <a:pt x="13790288" y="1587077"/>
                  </a:lnTo>
                  <a:lnTo>
                    <a:pt x="0" y="1587077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323229"/>
            <a:ext cx="3824654" cy="867078"/>
            <a:chOff x="0" y="0"/>
            <a:chExt cx="5099538" cy="1156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99538" cy="1156104"/>
            </a:xfrm>
            <a:custGeom>
              <a:avLst/>
              <a:gdLst/>
              <a:ahLst/>
              <a:cxnLst/>
              <a:rect l="l" t="t" r="r" b="b"/>
              <a:pathLst>
                <a:path w="5099538" h="1156104">
                  <a:moveTo>
                    <a:pt x="0" y="0"/>
                  </a:moveTo>
                  <a:lnTo>
                    <a:pt x="5099538" y="0"/>
                  </a:lnTo>
                  <a:lnTo>
                    <a:pt x="5099538" y="1156104"/>
                  </a:lnTo>
                  <a:lnTo>
                    <a:pt x="0" y="1156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5099538" cy="1165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19"/>
                </a:lnSpc>
              </a:pPr>
              <a:r>
                <a:rPr lang="en-US" sz="4599" spc="-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RESULTS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1399121"/>
            <a:ext cx="4025619" cy="618515"/>
            <a:chOff x="0" y="0"/>
            <a:chExt cx="5367492" cy="8246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67492" cy="824686"/>
            </a:xfrm>
            <a:custGeom>
              <a:avLst/>
              <a:gdLst/>
              <a:ahLst/>
              <a:cxnLst/>
              <a:rect l="l" t="t" r="r" b="b"/>
              <a:pathLst>
                <a:path w="5367492" h="824686">
                  <a:moveTo>
                    <a:pt x="0" y="0"/>
                  </a:moveTo>
                  <a:lnTo>
                    <a:pt x="5367492" y="0"/>
                  </a:lnTo>
                  <a:lnTo>
                    <a:pt x="5367492" y="824686"/>
                  </a:lnTo>
                  <a:lnTo>
                    <a:pt x="0" y="8246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5367492" cy="824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59"/>
                </a:lnSpc>
              </a:pPr>
              <a:r>
                <a:rPr lang="en-US" sz="3299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Healthy donor patient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91858" y="2202146"/>
            <a:ext cx="5315208" cy="3133593"/>
          </a:xfrm>
          <a:custGeom>
            <a:avLst/>
            <a:gdLst/>
            <a:ahLst/>
            <a:cxnLst/>
            <a:rect l="l" t="t" r="r" b="b"/>
            <a:pathLst>
              <a:path w="5315208" h="3133593">
                <a:moveTo>
                  <a:pt x="0" y="0"/>
                </a:moveTo>
                <a:lnTo>
                  <a:pt x="5315209" y="0"/>
                </a:lnTo>
                <a:lnTo>
                  <a:pt x="5315209" y="3133593"/>
                </a:lnTo>
                <a:lnTo>
                  <a:pt x="0" y="3133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1858" y="5545289"/>
            <a:ext cx="5701959" cy="4276470"/>
          </a:xfrm>
          <a:custGeom>
            <a:avLst/>
            <a:gdLst/>
            <a:ahLst/>
            <a:cxnLst/>
            <a:rect l="l" t="t" r="r" b="b"/>
            <a:pathLst>
              <a:path w="5701959" h="4276470">
                <a:moveTo>
                  <a:pt x="0" y="0"/>
                </a:moveTo>
                <a:lnTo>
                  <a:pt x="5701960" y="0"/>
                </a:lnTo>
                <a:lnTo>
                  <a:pt x="5701960" y="4276470"/>
                </a:lnTo>
                <a:lnTo>
                  <a:pt x="0" y="427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799778" y="1190307"/>
            <a:ext cx="5909082" cy="4431812"/>
          </a:xfrm>
          <a:custGeom>
            <a:avLst/>
            <a:gdLst/>
            <a:ahLst/>
            <a:cxnLst/>
            <a:rect l="l" t="t" r="r" b="b"/>
            <a:pathLst>
              <a:path w="5909082" h="4431812">
                <a:moveTo>
                  <a:pt x="0" y="0"/>
                </a:moveTo>
                <a:lnTo>
                  <a:pt x="5909082" y="0"/>
                </a:lnTo>
                <a:lnTo>
                  <a:pt x="5909082" y="4431812"/>
                </a:lnTo>
                <a:lnTo>
                  <a:pt x="0" y="4431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567928" y="9799212"/>
            <a:ext cx="10030288" cy="798797"/>
            <a:chOff x="0" y="0"/>
            <a:chExt cx="13373718" cy="10650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373719" cy="1065062"/>
            </a:xfrm>
            <a:custGeom>
              <a:avLst/>
              <a:gdLst/>
              <a:ahLst/>
              <a:cxnLst/>
              <a:rect l="l" t="t" r="r" b="b"/>
              <a:pathLst>
                <a:path w="13373719" h="1065062">
                  <a:moveTo>
                    <a:pt x="0" y="0"/>
                  </a:moveTo>
                  <a:lnTo>
                    <a:pt x="13373719" y="0"/>
                  </a:lnTo>
                  <a:lnTo>
                    <a:pt x="13373719" y="1065062"/>
                  </a:lnTo>
                  <a:lnTo>
                    <a:pt x="0" y="1065062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9383381" y="5912841"/>
            <a:ext cx="5434960" cy="4076219"/>
          </a:xfrm>
          <a:custGeom>
            <a:avLst/>
            <a:gdLst/>
            <a:ahLst/>
            <a:cxnLst/>
            <a:rect l="l" t="t" r="r" b="b"/>
            <a:pathLst>
              <a:path w="5434960" h="4076219">
                <a:moveTo>
                  <a:pt x="0" y="0"/>
                </a:moveTo>
                <a:lnTo>
                  <a:pt x="5434960" y="0"/>
                </a:lnTo>
                <a:lnTo>
                  <a:pt x="5434960" y="4076219"/>
                </a:lnTo>
                <a:lnTo>
                  <a:pt x="0" y="4076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76657" y="9799212"/>
            <a:ext cx="413236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Quality Score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7595" y="5545289"/>
            <a:ext cx="381133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GC Content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7595" y="9821759"/>
            <a:ext cx="4474815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Sequence Length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580" y="9821458"/>
            <a:ext cx="13046634" cy="733537"/>
            <a:chOff x="0" y="0"/>
            <a:chExt cx="17395512" cy="978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95512" cy="978050"/>
            </a:xfrm>
            <a:custGeom>
              <a:avLst/>
              <a:gdLst/>
              <a:ahLst/>
              <a:cxnLst/>
              <a:rect l="l" t="t" r="r" b="b"/>
              <a:pathLst>
                <a:path w="17395512" h="978050">
                  <a:moveTo>
                    <a:pt x="0" y="0"/>
                  </a:moveTo>
                  <a:lnTo>
                    <a:pt x="17395512" y="0"/>
                  </a:lnTo>
                  <a:lnTo>
                    <a:pt x="17395512" y="978050"/>
                  </a:lnTo>
                  <a:lnTo>
                    <a:pt x="0" y="978050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99036" y="338999"/>
            <a:ext cx="6172200" cy="618515"/>
            <a:chOff x="0" y="0"/>
            <a:chExt cx="8229600" cy="8246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29600" cy="824687"/>
            </a:xfrm>
            <a:custGeom>
              <a:avLst/>
              <a:gdLst/>
              <a:ahLst/>
              <a:cxnLst/>
              <a:rect l="l" t="t" r="r" b="b"/>
              <a:pathLst>
                <a:path w="8229600" h="824687">
                  <a:moveTo>
                    <a:pt x="0" y="0"/>
                  </a:moveTo>
                  <a:lnTo>
                    <a:pt x="8229600" y="0"/>
                  </a:lnTo>
                  <a:lnTo>
                    <a:pt x="8229600" y="824687"/>
                  </a:lnTo>
                  <a:lnTo>
                    <a:pt x="0" y="8246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8229600" cy="8246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3300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ICU [Symptomatic] patient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99036" y="1385157"/>
            <a:ext cx="5406110" cy="3201383"/>
          </a:xfrm>
          <a:custGeom>
            <a:avLst/>
            <a:gdLst/>
            <a:ahLst/>
            <a:cxnLst/>
            <a:rect l="l" t="t" r="r" b="b"/>
            <a:pathLst>
              <a:path w="5406110" h="3201383">
                <a:moveTo>
                  <a:pt x="0" y="0"/>
                </a:moveTo>
                <a:lnTo>
                  <a:pt x="5406109" y="0"/>
                </a:lnTo>
                <a:lnTo>
                  <a:pt x="5406109" y="3201383"/>
                </a:lnTo>
                <a:lnTo>
                  <a:pt x="0" y="320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46134" y="728494"/>
            <a:ext cx="6019613" cy="4514709"/>
          </a:xfrm>
          <a:custGeom>
            <a:avLst/>
            <a:gdLst/>
            <a:ahLst/>
            <a:cxnLst/>
            <a:rect l="l" t="t" r="r" b="b"/>
            <a:pathLst>
              <a:path w="6019613" h="4514709">
                <a:moveTo>
                  <a:pt x="0" y="0"/>
                </a:moveTo>
                <a:lnTo>
                  <a:pt x="6019613" y="0"/>
                </a:lnTo>
                <a:lnTo>
                  <a:pt x="6019613" y="4514709"/>
                </a:lnTo>
                <a:lnTo>
                  <a:pt x="0" y="4514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9036" y="5015165"/>
            <a:ext cx="5895997" cy="4421998"/>
          </a:xfrm>
          <a:custGeom>
            <a:avLst/>
            <a:gdLst/>
            <a:ahLst/>
            <a:cxnLst/>
            <a:rect l="l" t="t" r="r" b="b"/>
            <a:pathLst>
              <a:path w="5895997" h="4421998">
                <a:moveTo>
                  <a:pt x="0" y="0"/>
                </a:moveTo>
                <a:lnTo>
                  <a:pt x="5895996" y="0"/>
                </a:lnTo>
                <a:lnTo>
                  <a:pt x="5895996" y="4421997"/>
                </a:lnTo>
                <a:lnTo>
                  <a:pt x="0" y="4421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46134" y="5563579"/>
            <a:ext cx="5677172" cy="4257880"/>
          </a:xfrm>
          <a:custGeom>
            <a:avLst/>
            <a:gdLst/>
            <a:ahLst/>
            <a:cxnLst/>
            <a:rect l="l" t="t" r="r" b="b"/>
            <a:pathLst>
              <a:path w="5677172" h="4257880">
                <a:moveTo>
                  <a:pt x="0" y="0"/>
                </a:moveTo>
                <a:lnTo>
                  <a:pt x="5677172" y="0"/>
                </a:lnTo>
                <a:lnTo>
                  <a:pt x="5677172" y="4257879"/>
                </a:lnTo>
                <a:lnTo>
                  <a:pt x="0" y="4257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80853" y="9611908"/>
            <a:ext cx="413236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Quality Score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50271" y="5243203"/>
            <a:ext cx="381133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GC Content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4075" y="9867900"/>
            <a:ext cx="4474815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Sequence Length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660" y="9659228"/>
            <a:ext cx="10282961" cy="838236"/>
            <a:chOff x="0" y="0"/>
            <a:chExt cx="13710615" cy="1117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0616" cy="1117648"/>
            </a:xfrm>
            <a:custGeom>
              <a:avLst/>
              <a:gdLst/>
              <a:ahLst/>
              <a:cxnLst/>
              <a:rect l="l" t="t" r="r" b="b"/>
              <a:pathLst>
                <a:path w="13710616" h="1117648">
                  <a:moveTo>
                    <a:pt x="0" y="0"/>
                  </a:moveTo>
                  <a:lnTo>
                    <a:pt x="13710616" y="0"/>
                  </a:lnTo>
                  <a:lnTo>
                    <a:pt x="13710616" y="1117648"/>
                  </a:lnTo>
                  <a:lnTo>
                    <a:pt x="0" y="1117648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297058"/>
            <a:ext cx="5882055" cy="1113815"/>
            <a:chOff x="0" y="0"/>
            <a:chExt cx="7842740" cy="14850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42740" cy="1485087"/>
            </a:xfrm>
            <a:custGeom>
              <a:avLst/>
              <a:gdLst/>
              <a:ahLst/>
              <a:cxnLst/>
              <a:rect l="l" t="t" r="r" b="b"/>
              <a:pathLst>
                <a:path w="7842740" h="1485087">
                  <a:moveTo>
                    <a:pt x="0" y="0"/>
                  </a:moveTo>
                  <a:lnTo>
                    <a:pt x="7842740" y="0"/>
                  </a:lnTo>
                  <a:lnTo>
                    <a:pt x="7842740" y="1485087"/>
                  </a:lnTo>
                  <a:lnTo>
                    <a:pt x="0" y="1485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7842740" cy="14850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3300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Non-ICU [Asymptomatic] patient 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-4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510172" y="1410873"/>
            <a:ext cx="5480625" cy="3239019"/>
          </a:xfrm>
          <a:custGeom>
            <a:avLst/>
            <a:gdLst/>
            <a:ahLst/>
            <a:cxnLst/>
            <a:rect l="l" t="t" r="r" b="b"/>
            <a:pathLst>
              <a:path w="5480625" h="3239019">
                <a:moveTo>
                  <a:pt x="0" y="0"/>
                </a:moveTo>
                <a:lnTo>
                  <a:pt x="5480626" y="0"/>
                </a:lnTo>
                <a:lnTo>
                  <a:pt x="5480626" y="3239019"/>
                </a:lnTo>
                <a:lnTo>
                  <a:pt x="0" y="3239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47471" y="5598744"/>
            <a:ext cx="5702432" cy="4276824"/>
          </a:xfrm>
          <a:custGeom>
            <a:avLst/>
            <a:gdLst/>
            <a:ahLst/>
            <a:cxnLst/>
            <a:rect l="l" t="t" r="r" b="b"/>
            <a:pathLst>
              <a:path w="5702432" h="4276824">
                <a:moveTo>
                  <a:pt x="0" y="0"/>
                </a:moveTo>
                <a:lnTo>
                  <a:pt x="5702432" y="0"/>
                </a:lnTo>
                <a:lnTo>
                  <a:pt x="5702432" y="4276823"/>
                </a:lnTo>
                <a:lnTo>
                  <a:pt x="0" y="4276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48837" y="718726"/>
            <a:ext cx="5899700" cy="4424774"/>
          </a:xfrm>
          <a:custGeom>
            <a:avLst/>
            <a:gdLst/>
            <a:ahLst/>
            <a:cxnLst/>
            <a:rect l="l" t="t" r="r" b="b"/>
            <a:pathLst>
              <a:path w="5899700" h="4424774">
                <a:moveTo>
                  <a:pt x="0" y="0"/>
                </a:moveTo>
                <a:lnTo>
                  <a:pt x="5899700" y="0"/>
                </a:lnTo>
                <a:lnTo>
                  <a:pt x="5899700" y="4424774"/>
                </a:lnTo>
                <a:lnTo>
                  <a:pt x="0" y="4424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5473" y="5008615"/>
            <a:ext cx="6030024" cy="4522517"/>
          </a:xfrm>
          <a:custGeom>
            <a:avLst/>
            <a:gdLst/>
            <a:ahLst/>
            <a:cxnLst/>
            <a:rect l="l" t="t" r="r" b="b"/>
            <a:pathLst>
              <a:path w="6030024" h="4522517">
                <a:moveTo>
                  <a:pt x="0" y="0"/>
                </a:moveTo>
                <a:lnTo>
                  <a:pt x="6030024" y="0"/>
                </a:lnTo>
                <a:lnTo>
                  <a:pt x="6030024" y="4522517"/>
                </a:lnTo>
                <a:lnTo>
                  <a:pt x="0" y="4522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442317" y="9666017"/>
            <a:ext cx="413236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Quality Score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5880" y="5143500"/>
            <a:ext cx="381133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 Sequence GC Content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6894" y="9867900"/>
            <a:ext cx="4474815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Sequence Length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9219" y="836943"/>
            <a:ext cx="14529561" cy="1044530"/>
            <a:chOff x="0" y="0"/>
            <a:chExt cx="19372748" cy="1392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72779" cy="1392706"/>
            </a:xfrm>
            <a:custGeom>
              <a:avLst/>
              <a:gdLst/>
              <a:ahLst/>
              <a:cxnLst/>
              <a:rect l="l" t="t" r="r" b="b"/>
              <a:pathLst>
                <a:path w="19372779" h="1392706">
                  <a:moveTo>
                    <a:pt x="0" y="0"/>
                  </a:moveTo>
                  <a:lnTo>
                    <a:pt x="19372779" y="0"/>
                  </a:lnTo>
                  <a:lnTo>
                    <a:pt x="19372779" y="1392706"/>
                  </a:lnTo>
                  <a:lnTo>
                    <a:pt x="0" y="1392706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8696" y="9898483"/>
            <a:ext cx="12236272" cy="1108356"/>
            <a:chOff x="0" y="0"/>
            <a:chExt cx="16315030" cy="14778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15029" cy="1477808"/>
            </a:xfrm>
            <a:custGeom>
              <a:avLst/>
              <a:gdLst/>
              <a:ahLst/>
              <a:cxnLst/>
              <a:rect l="l" t="t" r="r" b="b"/>
              <a:pathLst>
                <a:path w="16315029" h="1477808">
                  <a:moveTo>
                    <a:pt x="0" y="0"/>
                  </a:moveTo>
                  <a:lnTo>
                    <a:pt x="16315029" y="0"/>
                  </a:lnTo>
                  <a:lnTo>
                    <a:pt x="16315029" y="1477808"/>
                  </a:lnTo>
                  <a:lnTo>
                    <a:pt x="0" y="1477808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843922" y="925669"/>
            <a:ext cx="8659143" cy="867078"/>
            <a:chOff x="0" y="0"/>
            <a:chExt cx="11545523" cy="11561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45523" cy="1156104"/>
            </a:xfrm>
            <a:custGeom>
              <a:avLst/>
              <a:gdLst/>
              <a:ahLst/>
              <a:cxnLst/>
              <a:rect l="l" t="t" r="r" b="b"/>
              <a:pathLst>
                <a:path w="11545523" h="1156104">
                  <a:moveTo>
                    <a:pt x="0" y="0"/>
                  </a:moveTo>
                  <a:lnTo>
                    <a:pt x="11545523" y="0"/>
                  </a:lnTo>
                  <a:lnTo>
                    <a:pt x="11545523" y="1156104"/>
                  </a:lnTo>
                  <a:lnTo>
                    <a:pt x="0" y="1156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1545523" cy="1165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19"/>
                </a:lnSpc>
              </a:pPr>
              <a:r>
                <a:rPr lang="en-US" sz="4599" spc="-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COMPARATIVE STUDY ANALYSIS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4579686" y="3987867"/>
            <a:ext cx="9128627" cy="4883091"/>
          </a:xfrm>
          <a:custGeom>
            <a:avLst/>
            <a:gdLst/>
            <a:ahLst/>
            <a:cxnLst/>
            <a:rect l="l" t="t" r="r" b="b"/>
            <a:pathLst>
              <a:path w="9128627" h="4883091">
                <a:moveTo>
                  <a:pt x="0" y="0"/>
                </a:moveTo>
                <a:lnTo>
                  <a:pt x="9128628" y="0"/>
                </a:lnTo>
                <a:lnTo>
                  <a:pt x="9128628" y="4883091"/>
                </a:lnTo>
                <a:lnTo>
                  <a:pt x="0" y="488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89308" y="2664957"/>
            <a:ext cx="303552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1. Bit Score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3264" y="3330508"/>
            <a:ext cx="1389664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Bit Score is a normalized measure provided by BLAST that reflects the quality of sequence alignment—the higher the score, the better the alignment.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9219" y="8870958"/>
            <a:ext cx="1392471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results suggest that Covid infection, particularly in non-ICU patients, may alter the sequence conservation of piRNAs,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21607" y="2792315"/>
            <a:ext cx="10614679" cy="5262235"/>
          </a:xfrm>
          <a:custGeom>
            <a:avLst/>
            <a:gdLst/>
            <a:ahLst/>
            <a:cxnLst/>
            <a:rect l="l" t="t" r="r" b="b"/>
            <a:pathLst>
              <a:path w="10614679" h="5262235">
                <a:moveTo>
                  <a:pt x="0" y="0"/>
                </a:moveTo>
                <a:lnTo>
                  <a:pt x="10614680" y="0"/>
                </a:lnTo>
                <a:lnTo>
                  <a:pt x="10614680" y="5262235"/>
                </a:lnTo>
                <a:lnTo>
                  <a:pt x="0" y="5262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18651"/>
            <a:ext cx="439849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2. Percent Alignment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52469"/>
            <a:ext cx="18288000" cy="672349"/>
            <a:chOff x="0" y="0"/>
            <a:chExt cx="24384000" cy="8964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96465"/>
            </a:xfrm>
            <a:custGeom>
              <a:avLst/>
              <a:gdLst/>
              <a:ahLst/>
              <a:cxnLst/>
              <a:rect l="l" t="t" r="r" b="b"/>
              <a:pathLst>
                <a:path w="24384000" h="896465">
                  <a:moveTo>
                    <a:pt x="0" y="0"/>
                  </a:moveTo>
                  <a:lnTo>
                    <a:pt x="24384000" y="0"/>
                  </a:lnTo>
                  <a:lnTo>
                    <a:pt x="24384000" y="896465"/>
                  </a:lnTo>
                  <a:lnTo>
                    <a:pt x="0" y="896465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013595" y="2082488"/>
            <a:ext cx="1426081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Percent alignment indicates the proportion of each piRNA sequence that successfully aligns with a reference sequence from the human piRNA database using BLAST.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4270" y="8598124"/>
            <a:ext cx="1369413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These slight reductions in alignment percentage in Covid-affected groups could reflect the stress or immune modulation induced by viral infection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19268" y="3163808"/>
            <a:ext cx="9578623" cy="5124563"/>
          </a:xfrm>
          <a:custGeom>
            <a:avLst/>
            <a:gdLst/>
            <a:ahLst/>
            <a:cxnLst/>
            <a:rect l="l" t="t" r="r" b="b"/>
            <a:pathLst>
              <a:path w="9578623" h="5124563">
                <a:moveTo>
                  <a:pt x="0" y="0"/>
                </a:moveTo>
                <a:lnTo>
                  <a:pt x="9578623" y="0"/>
                </a:lnTo>
                <a:lnTo>
                  <a:pt x="9578623" y="5124564"/>
                </a:lnTo>
                <a:lnTo>
                  <a:pt x="0" y="5124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57614" y="1519715"/>
            <a:ext cx="327584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3. Mismatch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52469"/>
            <a:ext cx="18288000" cy="672349"/>
            <a:chOff x="0" y="0"/>
            <a:chExt cx="24384000" cy="8964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96465"/>
            </a:xfrm>
            <a:custGeom>
              <a:avLst/>
              <a:gdLst/>
              <a:ahLst/>
              <a:cxnLst/>
              <a:rect l="l" t="t" r="r" b="b"/>
              <a:pathLst>
                <a:path w="24384000" h="896465">
                  <a:moveTo>
                    <a:pt x="0" y="0"/>
                  </a:moveTo>
                  <a:lnTo>
                    <a:pt x="24384000" y="0"/>
                  </a:lnTo>
                  <a:lnTo>
                    <a:pt x="24384000" y="896465"/>
                  </a:lnTo>
                  <a:lnTo>
                    <a:pt x="0" y="896465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887727" y="2325608"/>
            <a:ext cx="1365838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Mismatch count refers to the number of nucleotide mismatches observed during sequence alignment between query </a:t>
            </a:r>
            <a:r>
              <a:rPr lang="en-US" sz="2799" spc="-3" dirty="0" err="1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piRNA</a:t>
            </a:r>
            <a:r>
              <a:rPr lang="en-US" sz="2799" spc="-3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sequences and the reference database.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1115" y="8288372"/>
            <a:ext cx="14894864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increased mismatch counts in Covid-infected samples, especially ICU patients, may suggest a disturbance in the piRNA population, possibly due to viral interaction, immune stress, or cellular response mechanisms during severe infection.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51479" y="3375163"/>
            <a:ext cx="9860981" cy="4837462"/>
          </a:xfrm>
          <a:custGeom>
            <a:avLst/>
            <a:gdLst/>
            <a:ahLst/>
            <a:cxnLst/>
            <a:rect l="l" t="t" r="r" b="b"/>
            <a:pathLst>
              <a:path w="9860981" h="4837462">
                <a:moveTo>
                  <a:pt x="0" y="0"/>
                </a:moveTo>
                <a:lnTo>
                  <a:pt x="9860981" y="0"/>
                </a:lnTo>
                <a:lnTo>
                  <a:pt x="9860981" y="4837463"/>
                </a:lnTo>
                <a:lnTo>
                  <a:pt x="0" y="4837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200585"/>
            <a:ext cx="372727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4. Raw Score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52469"/>
            <a:ext cx="18288000" cy="672349"/>
            <a:chOff x="0" y="0"/>
            <a:chExt cx="24384000" cy="8964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96465"/>
            </a:xfrm>
            <a:custGeom>
              <a:avLst/>
              <a:gdLst/>
              <a:ahLst/>
              <a:cxnLst/>
              <a:rect l="l" t="t" r="r" b="b"/>
              <a:pathLst>
                <a:path w="24384000" h="896465">
                  <a:moveTo>
                    <a:pt x="0" y="0"/>
                  </a:moveTo>
                  <a:lnTo>
                    <a:pt x="24384000" y="0"/>
                  </a:lnTo>
                  <a:lnTo>
                    <a:pt x="24384000" y="896465"/>
                  </a:lnTo>
                  <a:lnTo>
                    <a:pt x="0" y="896465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042214" y="1853194"/>
            <a:ext cx="12906927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 spc="-2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Raw Score in BLAST output quantifies the alignment score. . It directly reflects the total number of matches, mismatches, and gaps in the alignment the higher the score, the better the alignment quality.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2214" y="8565051"/>
            <a:ext cx="1290692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These lower scores in Covid-affected individuals may be attributed to increased mismatches or sequence variations in the piRNA reads.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466129"/>
            <a:ext cx="7907722" cy="3844705"/>
          </a:xfrm>
          <a:custGeom>
            <a:avLst/>
            <a:gdLst/>
            <a:ahLst/>
            <a:cxnLst/>
            <a:rect l="l" t="t" r="r" b="b"/>
            <a:pathLst>
              <a:path w="7907722" h="3844705">
                <a:moveTo>
                  <a:pt x="0" y="0"/>
                </a:moveTo>
                <a:lnTo>
                  <a:pt x="7907722" y="0"/>
                </a:lnTo>
                <a:lnTo>
                  <a:pt x="7907722" y="3844705"/>
                </a:lnTo>
                <a:lnTo>
                  <a:pt x="0" y="3844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99984" y="3466129"/>
            <a:ext cx="7389381" cy="3773301"/>
          </a:xfrm>
          <a:custGeom>
            <a:avLst/>
            <a:gdLst/>
            <a:ahLst/>
            <a:cxnLst/>
            <a:rect l="l" t="t" r="r" b="b"/>
            <a:pathLst>
              <a:path w="7389381" h="3773301">
                <a:moveTo>
                  <a:pt x="0" y="0"/>
                </a:moveTo>
                <a:lnTo>
                  <a:pt x="7389381" y="0"/>
                </a:lnTo>
                <a:lnTo>
                  <a:pt x="7389381" y="3773301"/>
                </a:lnTo>
                <a:lnTo>
                  <a:pt x="0" y="377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522869"/>
            <a:ext cx="302096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5. Evalue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752469"/>
            <a:ext cx="18288000" cy="672349"/>
            <a:chOff x="0" y="0"/>
            <a:chExt cx="24384000" cy="8964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896465"/>
            </a:xfrm>
            <a:custGeom>
              <a:avLst/>
              <a:gdLst/>
              <a:ahLst/>
              <a:cxnLst/>
              <a:rect l="l" t="t" r="r" b="b"/>
              <a:pathLst>
                <a:path w="24384000" h="896465">
                  <a:moveTo>
                    <a:pt x="0" y="0"/>
                  </a:moveTo>
                  <a:lnTo>
                    <a:pt x="24384000" y="0"/>
                  </a:lnTo>
                  <a:lnTo>
                    <a:pt x="24384000" y="896465"/>
                  </a:lnTo>
                  <a:lnTo>
                    <a:pt x="0" y="896465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961174" y="2280186"/>
            <a:ext cx="119830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E-value (Expect value) represents the number of hits one can expect to see by chance when searching a database of a particular size.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9438" y="8112551"/>
            <a:ext cx="1342660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The ICU samples showed slightly higher alignment than Non-ICU, possibly indicating a more active or disrupted piRNA regulatory mechanism under severe infection conditions.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5214" y="2186648"/>
            <a:ext cx="7126246" cy="7290382"/>
          </a:xfrm>
          <a:custGeom>
            <a:avLst/>
            <a:gdLst/>
            <a:ahLst/>
            <a:cxnLst/>
            <a:rect l="l" t="t" r="r" b="b"/>
            <a:pathLst>
              <a:path w="7126246" h="7290382">
                <a:moveTo>
                  <a:pt x="0" y="0"/>
                </a:moveTo>
                <a:lnTo>
                  <a:pt x="7126246" y="0"/>
                </a:lnTo>
                <a:lnTo>
                  <a:pt x="7126246" y="7290382"/>
                </a:lnTo>
                <a:lnTo>
                  <a:pt x="0" y="7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13240" y="2065829"/>
            <a:ext cx="6574560" cy="7532020"/>
          </a:xfrm>
          <a:custGeom>
            <a:avLst/>
            <a:gdLst/>
            <a:ahLst/>
            <a:cxnLst/>
            <a:rect l="l" t="t" r="r" b="b"/>
            <a:pathLst>
              <a:path w="6574560" h="7532020">
                <a:moveTo>
                  <a:pt x="0" y="0"/>
                </a:moveTo>
                <a:lnTo>
                  <a:pt x="6574560" y="0"/>
                </a:lnTo>
                <a:lnTo>
                  <a:pt x="6574560" y="7532020"/>
                </a:lnTo>
                <a:lnTo>
                  <a:pt x="0" y="753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765372"/>
            <a:ext cx="18288000" cy="1044530"/>
            <a:chOff x="0" y="0"/>
            <a:chExt cx="23493470" cy="13927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93499" cy="1392706"/>
            </a:xfrm>
            <a:custGeom>
              <a:avLst/>
              <a:gdLst/>
              <a:ahLst/>
              <a:cxnLst/>
              <a:rect l="l" t="t" r="r" b="b"/>
              <a:pathLst>
                <a:path w="23493499" h="1392706">
                  <a:moveTo>
                    <a:pt x="0" y="0"/>
                  </a:moveTo>
                  <a:lnTo>
                    <a:pt x="23493499" y="0"/>
                  </a:lnTo>
                  <a:lnTo>
                    <a:pt x="23493499" y="1392706"/>
                  </a:lnTo>
                  <a:lnTo>
                    <a:pt x="0" y="1392706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6818" y="854098"/>
            <a:ext cx="17291182" cy="867078"/>
            <a:chOff x="0" y="0"/>
            <a:chExt cx="23054909" cy="11561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054909" cy="1156104"/>
            </a:xfrm>
            <a:custGeom>
              <a:avLst/>
              <a:gdLst/>
              <a:ahLst/>
              <a:cxnLst/>
              <a:rect l="l" t="t" r="r" b="b"/>
              <a:pathLst>
                <a:path w="23054909" h="1156104">
                  <a:moveTo>
                    <a:pt x="0" y="0"/>
                  </a:moveTo>
                  <a:lnTo>
                    <a:pt x="23054909" y="0"/>
                  </a:lnTo>
                  <a:lnTo>
                    <a:pt x="23054909" y="1156104"/>
                  </a:lnTo>
                  <a:lnTo>
                    <a:pt x="0" y="11561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3054909" cy="11656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519"/>
                </a:lnSpc>
              </a:pPr>
              <a:r>
                <a:rPr lang="en-US" sz="4599" spc="-6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QUERY SEQUENCE COMPARISON WITH ICU AND NON-ICU SAMPLE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83227" y="9597849"/>
            <a:ext cx="557022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BLAST performed non-ICU with piRNA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2664" y="9597849"/>
            <a:ext cx="56403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spc="-3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BLAST performed ICU with piRNA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08" y="1138428"/>
            <a:ext cx="5165385" cy="7996428"/>
            <a:chOff x="0" y="0"/>
            <a:chExt cx="6887180" cy="10661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87210" cy="10661904"/>
            </a:xfrm>
            <a:custGeom>
              <a:avLst/>
              <a:gdLst/>
              <a:ahLst/>
              <a:cxnLst/>
              <a:rect l="l" t="t" r="r" b="b"/>
              <a:pathLst>
                <a:path w="6887210" h="10661904">
                  <a:moveTo>
                    <a:pt x="0" y="0"/>
                  </a:moveTo>
                  <a:lnTo>
                    <a:pt x="6887210" y="0"/>
                  </a:lnTo>
                  <a:lnTo>
                    <a:pt x="6887210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723796" y="1138428"/>
            <a:ext cx="576072" cy="7996428"/>
            <a:chOff x="0" y="0"/>
            <a:chExt cx="768096" cy="106619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096" cy="10661904"/>
            </a:xfrm>
            <a:custGeom>
              <a:avLst/>
              <a:gdLst/>
              <a:ahLst/>
              <a:cxnLst/>
              <a:rect l="l" t="t" r="r" b="b"/>
              <a:pathLst>
                <a:path w="768096" h="10661904">
                  <a:moveTo>
                    <a:pt x="0" y="0"/>
                  </a:moveTo>
                  <a:lnTo>
                    <a:pt x="768096" y="0"/>
                  </a:lnTo>
                  <a:lnTo>
                    <a:pt x="768096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9600" y="1685756"/>
            <a:ext cx="4421223" cy="6901775"/>
            <a:chOff x="0" y="0"/>
            <a:chExt cx="5894964" cy="92023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94964" cy="9202366"/>
            </a:xfrm>
            <a:custGeom>
              <a:avLst/>
              <a:gdLst/>
              <a:ahLst/>
              <a:cxnLst/>
              <a:rect l="l" t="t" r="r" b="b"/>
              <a:pathLst>
                <a:path w="5894964" h="9202366">
                  <a:moveTo>
                    <a:pt x="0" y="0"/>
                  </a:moveTo>
                  <a:lnTo>
                    <a:pt x="5894964" y="0"/>
                  </a:lnTo>
                  <a:lnTo>
                    <a:pt x="5894964" y="9202366"/>
                  </a:lnTo>
                  <a:lnTo>
                    <a:pt x="0" y="9202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5894964" cy="915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spc="-9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CONCLUSION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90400" y="1557169"/>
            <a:ext cx="11908384" cy="7357200"/>
            <a:chOff x="0" y="-171450"/>
            <a:chExt cx="15877845" cy="98096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877845" cy="9638151"/>
            </a:xfrm>
            <a:custGeom>
              <a:avLst/>
              <a:gdLst/>
              <a:ahLst/>
              <a:cxnLst/>
              <a:rect l="l" t="t" r="r" b="b"/>
              <a:pathLst>
                <a:path w="15877845" h="9638151">
                  <a:moveTo>
                    <a:pt x="0" y="0"/>
                  </a:moveTo>
                  <a:lnTo>
                    <a:pt x="15877845" y="0"/>
                  </a:lnTo>
                  <a:lnTo>
                    <a:pt x="15877845" y="9638151"/>
                  </a:lnTo>
                  <a:lnTo>
                    <a:pt x="0" y="9638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71450"/>
              <a:ext cx="15877844" cy="9809601"/>
            </a:xfrm>
            <a:prstGeom prst="rect">
              <a:avLst/>
            </a:prstGeom>
          </p:spPr>
          <p:txBody>
            <a:bodyPr lIns="63500" tIns="63500" rIns="63500" bIns="63500" rtlCol="0" anchor="ctr"/>
            <a:lstStyle/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profiles showed noticeable variations between healthy, non-ICU, and ICU COVID-19 patients</a:t>
              </a:r>
              <a:r>
                <a:rPr lang="en-US" sz="2400" dirty="0" smtClean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.</a:t>
              </a: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Increased mismatch and reduced alignment scores suggest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dysregulation during infection</a:t>
              </a:r>
              <a:r>
                <a:rPr lang="en-US" sz="2400" dirty="0" smtClean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.</a:t>
              </a: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ICU samples exhibited greater sequence divergence, indicating a stronger disruption in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pathways</a:t>
              </a:r>
              <a:r>
                <a:rPr lang="en-US" sz="2400" dirty="0" smtClean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.</a:t>
              </a: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632"/>
                </a:lnSpc>
                <a:buFont typeface="Arial"/>
                <a:buChar char="•"/>
              </a:pPr>
              <a:r>
                <a:rPr lang="en-US" sz="2400" dirty="0" smtClean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The 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study highlights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piRNAs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as potential biomarkers reflecting disease severity and immune response.</a:t>
              </a:r>
              <a:endParaRPr lang="en-US" sz="2400" dirty="0" smtClean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algn="l">
                <a:lnSpc>
                  <a:spcPts val="4632"/>
                </a:lnSpc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98" y="1138428"/>
            <a:ext cx="5165385" cy="7996428"/>
            <a:chOff x="0" y="0"/>
            <a:chExt cx="6887180" cy="10661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87210" cy="10661904"/>
            </a:xfrm>
            <a:custGeom>
              <a:avLst/>
              <a:gdLst/>
              <a:ahLst/>
              <a:cxnLst/>
              <a:rect l="l" t="t" r="r" b="b"/>
              <a:pathLst>
                <a:path w="6887210" h="10661904">
                  <a:moveTo>
                    <a:pt x="0" y="0"/>
                  </a:moveTo>
                  <a:lnTo>
                    <a:pt x="6887210" y="0"/>
                  </a:lnTo>
                  <a:lnTo>
                    <a:pt x="6887210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79378" y="1685755"/>
            <a:ext cx="4421223" cy="6901775"/>
            <a:chOff x="0" y="0"/>
            <a:chExt cx="5894964" cy="9202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94964" cy="9202366"/>
            </a:xfrm>
            <a:custGeom>
              <a:avLst/>
              <a:gdLst/>
              <a:ahLst/>
              <a:cxnLst/>
              <a:rect l="l" t="t" r="r" b="b"/>
              <a:pathLst>
                <a:path w="5894964" h="9202366">
                  <a:moveTo>
                    <a:pt x="0" y="0"/>
                  </a:moveTo>
                  <a:lnTo>
                    <a:pt x="5894964" y="0"/>
                  </a:lnTo>
                  <a:lnTo>
                    <a:pt x="5894964" y="9202366"/>
                  </a:lnTo>
                  <a:lnTo>
                    <a:pt x="0" y="9202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5894964" cy="915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2"/>
                </a:lnSpc>
              </a:pPr>
              <a:r>
                <a:rPr lang="en-US" sz="5400" spc="-97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FUTURE WORK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90400" y="1685756"/>
            <a:ext cx="11908383" cy="7228613"/>
            <a:chOff x="0" y="0"/>
            <a:chExt cx="15877844" cy="9638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877845" cy="9638151"/>
            </a:xfrm>
            <a:custGeom>
              <a:avLst/>
              <a:gdLst/>
              <a:ahLst/>
              <a:cxnLst/>
              <a:rect l="l" t="t" r="r" b="b"/>
              <a:pathLst>
                <a:path w="15877845" h="9638151">
                  <a:moveTo>
                    <a:pt x="0" y="0"/>
                  </a:moveTo>
                  <a:lnTo>
                    <a:pt x="15877845" y="0"/>
                  </a:lnTo>
                  <a:lnTo>
                    <a:pt x="15877845" y="9638151"/>
                  </a:lnTo>
                  <a:lnTo>
                    <a:pt x="0" y="9638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00025"/>
              <a:ext cx="15877844" cy="9838176"/>
            </a:xfrm>
            <a:prstGeom prst="rect">
              <a:avLst/>
            </a:prstGeom>
          </p:spPr>
          <p:txBody>
            <a:bodyPr lIns="63500" tIns="63500" rIns="63500" bIns="63500" rtlCol="0" anchor="ctr"/>
            <a:lstStyle/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Expand dataset to include more diverse patient samples for higher statistical power.</a:t>
              </a: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Perform functional enrichment analysis to link altered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piRNAs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to gene regulatory networks.</a:t>
              </a: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Validate in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silico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findings with experimental approaches (e.g.,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qRT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-PCR or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arrays).</a:t>
              </a: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Investigate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 changes in post-COVID or long-COVID cases for prognostic insight.</a:t>
              </a: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endParaRPr lang="en-US" sz="2400" dirty="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endParaRPr>
            </a:p>
            <a:p>
              <a:pPr marL="518160" lvl="1" indent="-259080">
                <a:lnSpc>
                  <a:spcPts val="492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Explore </a:t>
              </a:r>
              <a:r>
                <a:rPr lang="en-US" sz="2400" dirty="0" err="1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piRNA</a:t>
              </a:r>
              <a:r>
                <a:rPr lang="en-US" sz="2400" dirty="0">
                  <a:solidFill>
                    <a:srgbClr val="000000"/>
                  </a:solidFill>
                  <a:latin typeface="PT Sans"/>
                  <a:ea typeface="PT Sans"/>
                  <a:cs typeface="PT Sans"/>
                  <a:sym typeface="PT Sans"/>
                </a:rPr>
                <a:t>-based therapeutic or diagnostic applications in viral infections.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723796" y="1138428"/>
            <a:ext cx="576072" cy="7996428"/>
            <a:chOff x="0" y="0"/>
            <a:chExt cx="768096" cy="106619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8096" cy="10661904"/>
            </a:xfrm>
            <a:custGeom>
              <a:avLst/>
              <a:gdLst/>
              <a:ahLst/>
              <a:cxnLst/>
              <a:rect l="l" t="t" r="r" b="b"/>
              <a:pathLst>
                <a:path w="768096" h="10661904">
                  <a:moveTo>
                    <a:pt x="0" y="0"/>
                  </a:moveTo>
                  <a:lnTo>
                    <a:pt x="768096" y="0"/>
                  </a:lnTo>
                  <a:lnTo>
                    <a:pt x="768096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C8C8C8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9912" y="1145286"/>
            <a:ext cx="17028176" cy="7996428"/>
            <a:chOff x="0" y="0"/>
            <a:chExt cx="22704234" cy="10661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04264" cy="10661904"/>
            </a:xfrm>
            <a:custGeom>
              <a:avLst/>
              <a:gdLst/>
              <a:ahLst/>
              <a:cxnLst/>
              <a:rect l="l" t="t" r="r" b="b"/>
              <a:pathLst>
                <a:path w="22704264" h="10661904">
                  <a:moveTo>
                    <a:pt x="0" y="0"/>
                  </a:moveTo>
                  <a:lnTo>
                    <a:pt x="22704264" y="0"/>
                  </a:lnTo>
                  <a:lnTo>
                    <a:pt x="22704264" y="10661904"/>
                  </a:lnTo>
                  <a:lnTo>
                    <a:pt x="0" y="10661904"/>
                  </a:lnTo>
                  <a:close/>
                </a:path>
              </a:pathLst>
            </a:custGeom>
            <a:solidFill>
              <a:srgbClr val="40BA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54226" y="4459815"/>
            <a:ext cx="7379547" cy="1887846"/>
            <a:chOff x="0" y="0"/>
            <a:chExt cx="9839396" cy="2517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39396" cy="2517128"/>
            </a:xfrm>
            <a:custGeom>
              <a:avLst/>
              <a:gdLst/>
              <a:ahLst/>
              <a:cxnLst/>
              <a:rect l="l" t="t" r="r" b="b"/>
              <a:pathLst>
                <a:path w="9839396" h="2517128">
                  <a:moveTo>
                    <a:pt x="0" y="0"/>
                  </a:moveTo>
                  <a:lnTo>
                    <a:pt x="9839396" y="0"/>
                  </a:lnTo>
                  <a:lnTo>
                    <a:pt x="9839396" y="2517128"/>
                  </a:lnTo>
                  <a:lnTo>
                    <a:pt x="0" y="25171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9839396" cy="251712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1999"/>
                </a:lnSpc>
              </a:pPr>
              <a:r>
                <a:rPr lang="en-US" sz="9999" b="1" spc="-14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753</Words>
  <Application>Microsoft Office PowerPoint</Application>
  <PresentationFormat>Custom</PresentationFormat>
  <Paragraphs>101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Times New Roman</vt:lpstr>
      <vt:lpstr>Arial</vt:lpstr>
      <vt:lpstr>PT Sans Bold</vt:lpstr>
      <vt:lpstr>Canva Sans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honor ppt.pptx</dc:title>
  <cp:lastModifiedBy>Dell</cp:lastModifiedBy>
  <cp:revision>6</cp:revision>
  <dcterms:created xsi:type="dcterms:W3CDTF">2006-08-16T00:00:00Z</dcterms:created>
  <dcterms:modified xsi:type="dcterms:W3CDTF">2025-10-04T04:39:52Z</dcterms:modified>
  <dc:identifier>DAGm906fR-E</dc:identifier>
</cp:coreProperties>
</file>